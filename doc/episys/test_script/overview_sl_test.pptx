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56A3E4C-2F11-4F6F-BF36-6B23C2CF35C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9DCE444-8D0D-4C3A-A3BE-4D213DF3294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4296380-9524-4C0B-AFFE-D152D5F682D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F154EA7-8406-4F66-826D-C92AFB76C88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91118F0-C626-4633-A51B-4FA2CB12491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FD2B012-3F5E-46B6-931F-EC762AB2A29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78DC87B-045E-465E-9453-C96A2A43068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46C581F-C0E5-4B9C-9963-66A41E66B6F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860B4C5-41F9-4397-8048-126FCE9BB21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E884BEE-CD88-441C-A6F6-D9E7B571245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D6CD64B-A3CA-46D0-ADC3-9B32E5F0516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67232E5-2BA6-4B08-93A8-5568BAE956F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11A5527-274C-4A3E-97B4-57697236F0E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F1EB8E3-473A-40EA-8AC0-6CE975FCD92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064E49B-F9E9-4D3F-9677-387C86084CE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CB79F04-B090-499B-AF2E-C195B5E2569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7042504-4A87-43B6-993B-DD8BF12B0DB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8264F14-8A10-4149-B30B-2DF7FEB6726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D1D35D9-44A8-4A26-9FD8-B09B390F837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20F1077-B3A2-4CCA-A982-09CD1E3C0C5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0671634-6EF6-4406-88DC-6DF457C3C98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4869EA3-292D-4C79-AAA8-C61C01C985D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" name="TextBox 2"/>
          <p:cNvSpPr/>
          <p:nvPr/>
        </p:nvSpPr>
        <p:spPr>
          <a:xfrm>
            <a:off x="1371600" y="1371600"/>
            <a:ext cx="91432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</a:rPr>
              <a:t>OAI 5G NR Sidelink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Box 3"/>
          <p:cNvSpPr/>
          <p:nvPr/>
        </p:nvSpPr>
        <p:spPr>
          <a:xfrm>
            <a:off x="1371600" y="2286000"/>
            <a:ext cx="91432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</a:rPr>
              <a:t>Test Framework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Box 4"/>
          <p:cNvSpPr/>
          <p:nvPr/>
        </p:nvSpPr>
        <p:spPr>
          <a:xfrm>
            <a:off x="1371600" y="3383280"/>
            <a:ext cx="91432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bfdbfe"/>
                </a:solidFill>
                <a:latin typeface="Calibri"/>
              </a:rPr>
              <a:t>Automated CI Test Harness for PC5 &amp; U2N Relay Validation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Rounded Rectangle 5"/>
          <p:cNvSpPr/>
          <p:nvPr/>
        </p:nvSpPr>
        <p:spPr>
          <a:xfrm>
            <a:off x="2560320" y="4389120"/>
            <a:ext cx="1645200" cy="36504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PC5 Mode 1 &amp; 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Rounded Rectangle 6"/>
          <p:cNvSpPr/>
          <p:nvPr/>
        </p:nvSpPr>
        <p:spPr>
          <a:xfrm>
            <a:off x="4389120" y="4389120"/>
            <a:ext cx="1645200" cy="36504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CSI / PSFCH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Rounded Rectangle 7"/>
          <p:cNvSpPr/>
          <p:nvPr/>
        </p:nvSpPr>
        <p:spPr>
          <a:xfrm>
            <a:off x="6217920" y="4389120"/>
            <a:ext cx="1645200" cy="36504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U2N Relay (SRAP)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Rounded Rectangle 8"/>
          <p:cNvSpPr/>
          <p:nvPr/>
        </p:nvSpPr>
        <p:spPr>
          <a:xfrm>
            <a:off x="8046720" y="4389120"/>
            <a:ext cx="1645200" cy="36504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RF Sim &amp; USRP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9"/>
          <p:cNvSpPr/>
          <p:nvPr/>
        </p:nvSpPr>
        <p:spPr>
          <a:xfrm>
            <a:off x="1371600" y="5669280"/>
            <a:ext cx="91432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3c5fd"/>
                </a:solidFill>
                <a:latin typeface="Calibri"/>
              </a:rPr>
              <a:t>OpenAirInterface — 2026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1"/>
          <p:cNvSpPr/>
          <p:nvPr/>
        </p:nvSpPr>
        <p:spPr>
          <a:xfrm>
            <a:off x="0" y="0"/>
            <a:ext cx="12191040" cy="72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" name="TextBox 2"/>
          <p:cNvSpPr/>
          <p:nvPr/>
        </p:nvSpPr>
        <p:spPr>
          <a:xfrm>
            <a:off x="548640" y="228600"/>
            <a:ext cx="91432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Overview &amp; Key Features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Box 3"/>
          <p:cNvSpPr/>
          <p:nvPr/>
        </p:nvSpPr>
        <p:spPr>
          <a:xfrm>
            <a:off x="548640" y="10058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What It Tests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Box 4"/>
          <p:cNvSpPr/>
          <p:nvPr/>
        </p:nvSpPr>
        <p:spPr>
          <a:xfrm>
            <a:off x="548640" y="1463040"/>
            <a:ext cx="5028480" cy="22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Sidelink Mode 2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Direct D2D communication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Sidelink Mode 1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Network-scheduled sidelink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U2N Relay (SRAP)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Remote UE connectivity via relay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CSI / PSFCH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Parametric feedback testing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Uu Interface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gNB &lt;-&gt; UE connectivity testing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iperf3 Bandwidth Sweep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UDP throughput characterization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BLER Testing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Waterfall curves across MCS 0-28 with noise sweep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5"/>
          <p:cNvSpPr/>
          <p:nvPr/>
        </p:nvSpPr>
        <p:spPr>
          <a:xfrm>
            <a:off x="6400800" y="10058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Key Features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Box 6"/>
          <p:cNvSpPr/>
          <p:nvPr/>
        </p:nvSpPr>
        <p:spPr>
          <a:xfrm>
            <a:off x="6400800" y="1463040"/>
            <a:ext cx="502848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Array-based test selection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simple ordered list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Parametric sweeps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CSI x PSFCH combinations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Multi-host support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1, 2, or 3 machines via SSH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Profile-based config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pilot / regress / stress / bler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Auto result tracking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ping + PSSCH statistics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Rounded Rectangle 7"/>
          <p:cNvSpPr/>
          <p:nvPr/>
        </p:nvSpPr>
        <p:spPr>
          <a:xfrm>
            <a:off x="548640" y="5029200"/>
            <a:ext cx="10972080" cy="63936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Two scripts:  run_sl_test.sh (test engine)  +  run_sl_test_config.sh (user configuration)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1"/>
          <p:cNvSpPr/>
          <p:nvPr/>
        </p:nvSpPr>
        <p:spPr>
          <a:xfrm>
            <a:off x="0" y="0"/>
            <a:ext cx="12191040" cy="72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548640" y="228600"/>
            <a:ext cx="91432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Architecture &amp; Execution Flow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3"/>
          <p:cNvSpPr/>
          <p:nvPr/>
        </p:nvSpPr>
        <p:spPr>
          <a:xfrm>
            <a:off x="548640" y="10058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Execution Flow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Rounded Rectangle 4"/>
          <p:cNvSpPr/>
          <p:nvPr/>
        </p:nvSpPr>
        <p:spPr>
          <a:xfrm>
            <a:off x="548640" y="1463040"/>
            <a:ext cx="5028480" cy="36568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1. Load config (run_sl_test_config.sh)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2. Resolve enabled_tests array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3. For each test: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a. Clean up old logs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b. Launch UEs (local / remote SSH)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c. Wait for tunnel interface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d. Wait for PC5 sync (PSBCH decode)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e. Execute ping test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f. Collect stats (ping + PSSCH)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g. Kill processes &amp; cleanup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h. Generate summary row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4. Display final summary table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Duration budget (ensure_ping_test_time):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=1: flexible, ping always runs (min 16s)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=0: strict, test ends after duration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Box 5"/>
          <p:cNvSpPr/>
          <p:nvPr/>
        </p:nvSpPr>
        <p:spPr>
          <a:xfrm>
            <a:off x="6400800" y="10058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File Structure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Rounded Rectangle 6"/>
          <p:cNvSpPr/>
          <p:nvPr/>
        </p:nvSpPr>
        <p:spPr>
          <a:xfrm>
            <a:off x="6400800" y="1463040"/>
            <a:ext cx="5028480" cy="36568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run_sl_test.sh            # Test engine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run_sl_test_config.sh     # Configuration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~/.ssh/config             # SSH host aliases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~/openairinterface5g/     # OAI source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&lt;base_dir&gt;/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latest -&gt; test_&lt;ts&gt;/    # Symlink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test_&lt;timestamp&gt;/       # Results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test_summary_*.csv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iperf3_summary_*.csv / *.png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result_*_&lt;test&gt;_&lt;ts&gt;.log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ping_result_*.txt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Rounded Rectangle 7"/>
          <p:cNvSpPr/>
          <p:nvPr/>
        </p:nvSpPr>
        <p:spPr>
          <a:xfrm>
            <a:off x="6400800" y="5303520"/>
            <a:ext cx="5028480" cy="5479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base_dir priority:  -d flag &gt; base_log_dir in config &gt; script directory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1040" cy="72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548640" y="228600"/>
            <a:ext cx="91432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Multi-Host Testing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Box 3"/>
          <p:cNvSpPr/>
          <p:nvPr/>
        </p:nvSpPr>
        <p:spPr>
          <a:xfrm>
            <a:off x="548640" y="10058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Test Topologies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ounded Rectangle 4"/>
          <p:cNvSpPr/>
          <p:nvPr/>
        </p:nvSpPr>
        <p:spPr>
          <a:xfrm>
            <a:off x="548640" y="1463040"/>
            <a:ext cx="5028480" cy="41140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Single-Host (Mode 2):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SyncRef UE &lt;--rfsim--&gt; Nearby UE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(both on localhost)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Two-Host (Mode 2):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Local:  SyncRef UE (rfsim server)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Remote: Nearby UE  (rfsim client)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Three-Host (Mode 1 SRAP):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gNB host:       gNB + 5G Core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relay_ue host:  Relay UE (Uu + PC5)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remote_ue host: Remote UE (PC5)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Box 5"/>
          <p:cNvSpPr/>
          <p:nvPr/>
        </p:nvSpPr>
        <p:spPr>
          <a:xfrm>
            <a:off x="6400800" y="10058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Host Assignment per Test Mode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8" name="Table 6"/>
          <p:cNvGraphicFramePr/>
          <p:nvPr/>
        </p:nvGraphicFramePr>
        <p:xfrm>
          <a:off x="6400800" y="1554480"/>
          <a:ext cx="5028840" cy="381312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57200"/>
                <a:gridCol w="731520"/>
                <a:gridCol w="1005840"/>
                <a:gridCol w="137160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SL Mode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Hosts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gNB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SyncRef UE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Nearby UE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1 (SRAP)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1 (SRAP)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gNB, 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relay_ue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Mode 1 (SRAP)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relay_ue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 (nrUE)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nr_ue (nrUE)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nr_ue (nrUE)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Rounded Rectangle 7"/>
          <p:cNvSpPr/>
          <p:nvPr/>
        </p:nvSpPr>
        <p:spPr>
          <a:xfrm>
            <a:off x="6400800" y="5486400"/>
            <a:ext cx="5028480" cy="639360"/>
          </a:xfrm>
          <a:prstGeom prst="roundRect">
            <a:avLst>
              <a:gd name="adj" fmla="val 16667"/>
            </a:avLst>
          </a:prstGeom>
          <a:solidFill>
            <a:srgbClr val="fffbeb"/>
          </a:solidFill>
          <a:ln w="25400"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SSH aliases defined in ~/.ssh/config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Passwordless SSH required: ssh-copy-id &lt;alias&gt;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"/>
          <p:cNvSpPr/>
          <p:nvPr/>
        </p:nvSpPr>
        <p:spPr>
          <a:xfrm>
            <a:off x="0" y="0"/>
            <a:ext cx="12191040" cy="72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TextBox 2"/>
          <p:cNvSpPr/>
          <p:nvPr/>
        </p:nvSpPr>
        <p:spPr>
          <a:xfrm>
            <a:off x="548640" y="228600"/>
            <a:ext cx="91432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Test Selection &amp; Configuration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Box 3"/>
          <p:cNvSpPr/>
          <p:nvPr/>
        </p:nvSpPr>
        <p:spPr>
          <a:xfrm>
            <a:off x="548640" y="10058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Test Profiles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3" name="Table 4"/>
          <p:cNvGraphicFramePr/>
          <p:nvPr/>
        </p:nvGraphicFramePr>
        <p:xfrm>
          <a:off x="548640" y="1463040"/>
          <a:ext cx="5074560" cy="2015640"/>
        </p:xfrm>
        <a:graphic>
          <a:graphicData uri="http://schemas.openxmlformats.org/drawingml/2006/table">
            <a:tbl>
              <a:tblPr/>
              <a:tblGrid>
                <a:gridCol w="640080"/>
                <a:gridCol w="502920"/>
                <a:gridCol w="640080"/>
                <a:gridCol w="502920"/>
                <a:gridCol w="731520"/>
                <a:gridCol w="457200"/>
                <a:gridCol w="502920"/>
                <a:gridCol w="109728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Profile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Repeats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MCS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SNR/Atten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Gain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LDPC Iter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Use Case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pilot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 / 20dB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20/110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Quick smoke test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regress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1, 9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 / 20dB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20/110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Regression validation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stress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9, 16, 28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300s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 / 20-60dB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20/110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Long-term stability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bler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0-28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85s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Noise sweep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N/A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BLER waterfall curves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84" name="TextBox 5"/>
          <p:cNvSpPr/>
          <p:nvPr/>
        </p:nvSpPr>
        <p:spPr>
          <a:xfrm>
            <a:off x="548640" y="347472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Per-Profile Test Lists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6"/>
          <p:cNvSpPr/>
          <p:nvPr/>
        </p:nvSpPr>
        <p:spPr>
          <a:xfrm>
            <a:off x="548640" y="3931920"/>
            <a:ext cx="5028480" cy="138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pilot_tests / regress_tests / stress_tests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slmode2_basic_tests — entire group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slmode2_basic_tests[0:2] — range (indices 0-2)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slmode2_basic_tests[0] — single test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test_name:csi:psfch — parametric combo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Box 7"/>
          <p:cNvSpPr/>
          <p:nvPr/>
        </p:nvSpPr>
        <p:spPr>
          <a:xfrm>
            <a:off x="6400800" y="10058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Additional Config Settings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Rounded Rectangle 8"/>
          <p:cNvSpPr/>
          <p:nvPr/>
        </p:nvSpPr>
        <p:spPr>
          <a:xfrm>
            <a:off x="6400800" y="1463040"/>
            <a:ext cx="5028480" cy="25596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Log output directory (default: script dir)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base_log_dir="~/openairinterface5g"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Use external clock source for USRP (0=internal, 1=external)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use_external_clock=1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Use standalone mode (0=disabled, 1=enabled)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use_sa=1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Use gnome-terminal (0=bash, 1=gnome)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use_gnome=1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Ensure ping test time (0=strict, 1=flexible)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ensure_ping_test_time=1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USRP serial numbers (SL Mode 1 relay only)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RELAY_UE_USRP_SN_FOR_UU=340EA03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RELAY_UE_USRP_SN_FOR_SL=340EA3B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Box 9"/>
          <p:cNvSpPr/>
          <p:nvPr/>
        </p:nvSpPr>
        <p:spPr>
          <a:xfrm>
            <a:off x="6400800" y="393192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Running Tests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Rounded Rectangle 10"/>
          <p:cNvSpPr/>
          <p:nvPr/>
        </p:nvSpPr>
        <p:spPr>
          <a:xfrm>
            <a:off x="6400800" y="4389120"/>
            <a:ext cx="5028480" cy="13708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use config settings (or defaults)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./run_sl_test.sh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override log dir and gnome terminal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./run_sl_test.sh -d ~/openairinterface5g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./run_sl_test.sh -g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./run_sl_test.sh -d ~/openairinterface5g -g 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1"/>
          <p:cNvSpPr/>
          <p:nvPr/>
        </p:nvSpPr>
        <p:spPr>
          <a:xfrm>
            <a:off x="6400800" y="5943600"/>
            <a:ext cx="5028480" cy="54792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Priority:  CLI flags (-d, -g) &gt; config file &gt; defaults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91040" cy="72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TextBox 2"/>
          <p:cNvSpPr/>
          <p:nvPr/>
        </p:nvSpPr>
        <p:spPr>
          <a:xfrm>
            <a:off x="548640" y="228600"/>
            <a:ext cx="91432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Four-Tier Configuration System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548640" y="914400"/>
            <a:ext cx="109720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2a6496"/>
                </a:solidFill>
                <a:latin typeface="Calibri"/>
              </a:rPr>
              <a:t>Override MCS and duration at four levels:  test-specific &gt; slice-specific &gt; group-specific &gt; profile-default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4"/>
          <p:cNvSpPr/>
          <p:nvPr/>
        </p:nvSpPr>
        <p:spPr>
          <a:xfrm>
            <a:off x="548640" y="14630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Configuration Examples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Rounded Rectangle 5"/>
          <p:cNvSpPr/>
          <p:nvPr/>
        </p:nvSpPr>
        <p:spPr>
          <a:xfrm>
            <a:off x="548640" y="1920240"/>
            <a:ext cx="5028480" cy="34740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In run_sl_test_config.sh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Group-level (all tests in group)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group_specific_duration["slmode2_basic_tests"]=30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group_specific_mcs["slmode2_basic_tests"]="16,28"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Slice-level (specific indices)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[0:2] range, [0,2] pick-list, [2] single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group_specific_duration["slmode2_basic_tests[2]"]=60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group_specific_mcs["slmode2_basic_tests[2]"]="12,16,20,24,28"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Test-specific (individual test)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test_specific_duration["usrp_B210_pc5_ping_test"]=90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test_specific_mcs["usrp_B210_pc5_ping_test"]="20,24,28"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6"/>
          <p:cNvSpPr/>
          <p:nvPr/>
        </p:nvSpPr>
        <p:spPr>
          <a:xfrm>
            <a:off x="6400800" y="14630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Key Features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7"/>
          <p:cNvSpPr/>
          <p:nvPr/>
        </p:nvSpPr>
        <p:spPr>
          <a:xfrm>
            <a:off x="6400800" y="1920240"/>
            <a:ext cx="5028480" cy="11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MCS formats: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Comma "16,28", space "16 28", or seq "$(seq 0 1 10)"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Auto-discovery: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Groups ending with _basic_tests, _iperf3_tests, _csi_psfch_tests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Excluded: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pilot_tests, regress_tests, stress_tests (profile arrays)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ounded Rectangle 8"/>
          <p:cNvSpPr/>
          <p:nvPr/>
        </p:nvSpPr>
        <p:spPr>
          <a:xfrm>
            <a:off x="6400800" y="4114800"/>
            <a:ext cx="5028480" cy="1096560"/>
          </a:xfrm>
          <a:prstGeom prst="roundRect">
            <a:avLst>
              <a:gd name="adj" fmla="val 16667"/>
            </a:avLst>
          </a:prstGeom>
          <a:solidFill>
            <a:srgbClr val="d1fae5"/>
          </a:solidFill>
          <a:ln w="25400"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Priority order: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1. Test-specific → 2. Slice-specific → 3. Group-specific → 4. Profile-default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1"/>
          <p:cNvSpPr/>
          <p:nvPr/>
        </p:nvSpPr>
        <p:spPr>
          <a:xfrm>
            <a:off x="0" y="0"/>
            <a:ext cx="12191040" cy="72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" name="TextBox 2"/>
          <p:cNvSpPr/>
          <p:nvPr/>
        </p:nvSpPr>
        <p:spPr>
          <a:xfrm>
            <a:off x="548640" y="228600"/>
            <a:ext cx="91432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Predefined Test Groups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01" name="Table 3"/>
          <p:cNvGraphicFramePr/>
          <p:nvPr/>
        </p:nvGraphicFramePr>
        <p:xfrm>
          <a:off x="512640" y="705240"/>
          <a:ext cx="5943240" cy="6119640"/>
        </p:xfrm>
        <a:graphic>
          <a:graphicData uri="http://schemas.openxmlformats.org/drawingml/2006/table">
            <a:tbl>
              <a:tblPr/>
              <a:tblGrid>
                <a:gridCol w="1828800"/>
                <a:gridCol w="457200"/>
                <a:gridCol w="3657600"/>
              </a:tblGrid>
              <a:tr h="1461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Idx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Test Case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uu_basic_tests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rfsim_uu_ping_test_on_local_host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rfsim_uu_ping_test_on_two_hosts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usrp_B210_uu_ping_test_on_two_hosts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slmode2_basic_tests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usrp_B210_pc5_ping_test_on_two_hosts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slmode2_csi_psfch_tests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rfsim_pc5_csi_acquisition_psfch_period_test_on_local_host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rfsim_pc5_csi_acquisition_psfch_period_test_on_two_hosts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usrp_B210_pc5_csi_acquisition_psfch_period_test_on_two_hosts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slmode2_iperf3_tests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rfsim_pc5_iperf3_test_on_local_host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rfsim_pc5_iperf3_test_on_two_hosts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usrp_B210_pc5_iperf3_test_on_two_hosts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slmode1_basic_tests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rfsim_slmode1_srap_ping_test_on_three_hosts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usrp_B210_slmode1_srap_ping_test_on_three_hosts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slmode1_iperf3_tests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rfsim_slmode1_srap_iperf3_test_on_local_host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rfsim_slmode1_srap_iperf3_test_on_three_hosts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6160">
                <a:tc>
                  <a:txBody>
                    <a:bodyPr anchor="ctr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usrp_B210_slmode1_srap_iperf3_test_on_three_hosts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102" name="TextBox 4"/>
          <p:cNvSpPr/>
          <p:nvPr/>
        </p:nvSpPr>
        <p:spPr>
          <a:xfrm>
            <a:off x="7132320" y="10058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Custom Groups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ounded Rectangle 5"/>
          <p:cNvSpPr/>
          <p:nvPr/>
        </p:nvSpPr>
        <p:spPr>
          <a:xfrm>
            <a:off x="7132320" y="1463040"/>
            <a:ext cx="4388400" cy="10965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regress_tests=(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slmode2_basic_tests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slmode2_csi_psfch_tests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6"/>
          <p:cNvSpPr/>
          <p:nvPr/>
        </p:nvSpPr>
        <p:spPr>
          <a:xfrm>
            <a:off x="7132320" y="274320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CSI/PSFCH Parameter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7"/>
          <p:cNvSpPr/>
          <p:nvPr/>
        </p:nvSpPr>
        <p:spPr>
          <a:xfrm>
            <a:off x="7132320" y="3200400"/>
            <a:ext cx="4388400" cy="11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test_name — all 8 combos (CSI: 0,1 x PSFCH: 0,1,2,3)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test_name:0:1 — CSI=0, PSFCH=1 only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test_name:1: — CSI=1, all PSFCH values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test_name::2 — PSFCH=2, all CSI values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Rounded Rectangle 8"/>
          <p:cNvSpPr/>
          <p:nvPr/>
        </p:nvSpPr>
        <p:spPr>
          <a:xfrm>
            <a:off x="7132320" y="5029200"/>
            <a:ext cx="4388400" cy="63936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CSI: sl_CSI_Acquisition (0=enabled, 1=disabled)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PSFCH: sl_PSFCH_Period (0, 1, 2, 3)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Rounded Rectangle 9"/>
          <p:cNvSpPr/>
          <p:nvPr/>
        </p:nvSpPr>
        <p:spPr>
          <a:xfrm>
            <a:off x="7132320" y="5852160"/>
            <a:ext cx="4388400" cy="456480"/>
          </a:xfrm>
          <a:prstGeom prst="roundRect">
            <a:avLst>
              <a:gd name="adj" fmla="val 16667"/>
            </a:avLst>
          </a:prstGeom>
          <a:solidFill>
            <a:srgbClr val="d1fae5"/>
          </a:solidFill>
          <a:ln w="25400"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Groups resolve recursively — a group can contain other group names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1"/>
          <p:cNvSpPr/>
          <p:nvPr/>
        </p:nvSpPr>
        <p:spPr>
          <a:xfrm>
            <a:off x="0" y="0"/>
            <a:ext cx="12191040" cy="72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TextBox 2"/>
          <p:cNvSpPr/>
          <p:nvPr/>
        </p:nvSpPr>
        <p:spPr>
          <a:xfrm>
            <a:off x="548640" y="228600"/>
            <a:ext cx="91432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Available Test Cases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0" name="Table 3"/>
          <p:cNvGraphicFramePr/>
          <p:nvPr/>
        </p:nvGraphicFramePr>
        <p:xfrm>
          <a:off x="548640" y="777240"/>
          <a:ext cx="10972440" cy="2459520"/>
        </p:xfrm>
        <a:graphic>
          <a:graphicData uri="http://schemas.openxmlformats.org/drawingml/2006/table">
            <a:tbl>
              <a:tblPr/>
              <a:tblGrid>
                <a:gridCol w="4114800"/>
                <a:gridCol w="1371600"/>
                <a:gridCol w="914400"/>
                <a:gridCol w="4572000"/>
              </a:tblGrid>
              <a:tr h="22860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Test Case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Mode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Hosts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22860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rfsim_uu_ping_test_on_local_host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gNB &lt;-&gt; UE ping on localhost (requires 5G Core)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rfsim_uu_ping_test_on_two_hosts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gNB &lt;-&gt; UE ping across two machines (requires 5G Core)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Basic PC5 ping: SyncRef &lt;-&gt; Nearby 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PC5 ping across two machines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rfsim_pc5_csi_acquisition_psfch_*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1-2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CSI/PSFCH parametric sweep (up to 8 combos)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rfsim_pc5_iperf3_test_on_*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1-2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iperf3 bandwidth sweep over PC5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rfsim_slmode1_srap_ping_*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1, 3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U2N relay ping via SRAP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rfsim_slmode1_srap_iperf3_*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1, 3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U2N relay iperf3 bandwidth sweep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22860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usrp_B210_*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All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2-3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 hardware variants of above 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1" name="Rounded Rectangle 4"/>
          <p:cNvSpPr/>
          <p:nvPr/>
        </p:nvSpPr>
        <p:spPr>
          <a:xfrm>
            <a:off x="548640" y="4846320"/>
            <a:ext cx="10972080" cy="730800"/>
          </a:xfrm>
          <a:prstGeom prst="roundRect">
            <a:avLst>
              <a:gd name="adj" fmla="val 16667"/>
            </a:avLst>
          </a:prstGeom>
          <a:solidFill>
            <a:srgbClr val="d1fae5"/>
          </a:solidFill>
          <a:ln w="25400"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Pass criteria: &gt;= 60% ICMP ping success rate   |   PSSCH stats: TX/RX counters extracted from UE logs for each direction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"/>
          <p:cNvSpPr/>
          <p:nvPr/>
        </p:nvSpPr>
        <p:spPr>
          <a:xfrm>
            <a:off x="0" y="0"/>
            <a:ext cx="12191040" cy="72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TextBox 2"/>
          <p:cNvSpPr/>
          <p:nvPr/>
        </p:nvSpPr>
        <p:spPr>
          <a:xfrm>
            <a:off x="548640" y="228600"/>
            <a:ext cx="91432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Test Results &amp; PSSCH Statistics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3"/>
          <p:cNvSpPr/>
          <p:nvPr/>
        </p:nvSpPr>
        <p:spPr>
          <a:xfrm>
            <a:off x="548640" y="1005840"/>
            <a:ext cx="9143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Summary Table Output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Rounded Rectangle 4"/>
          <p:cNvSpPr/>
          <p:nvPr/>
        </p:nvSpPr>
        <p:spPr>
          <a:xfrm>
            <a:off x="548640" y="1463040"/>
            <a:ext cx="10972080" cy="14623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Test Name                                      | Itrn | Hosts | MCS | Runtime | Ping  | PSSCH Rate1     | PSSCH Rate2     | Total | Result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==========================================================================================================================================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rfsim_pc5_ping_test_on_local_host              |    1 |     1 |   1 |    35s  |  100% | 1234/1200 (97%) | 1150/1234 (93%) |   95% |   PASS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rfsim_pc5_csi_psfch_*_csi0_psfch1              |    1 |     2 |   1 |    38s  |   93% | 980/1000 (98%)  | 920/980 (93%)   |   96% |   PASS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rfsim_slmode1_srap_ping_test_on_local_host     |    1 |     1 |   1 |    42s  |   80% | N/A             | N/A             |   N/A |   PASS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TextBox 5"/>
          <p:cNvSpPr/>
          <p:nvPr/>
        </p:nvSpPr>
        <p:spPr>
          <a:xfrm>
            <a:off x="548640" y="32918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PSSCH Rate Calculation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6"/>
          <p:cNvSpPr/>
          <p:nvPr/>
        </p:nvSpPr>
        <p:spPr>
          <a:xfrm>
            <a:off x="548640" y="3749040"/>
            <a:ext cx="5028480" cy="12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Rate1: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SyncRef TX -&gt; Nearby RX  (RX_nearby / TX_syncref)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Rate2: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Nearby TX -&gt; SyncRef RX  (RX_syncref / TX_nearby)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Total: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Aggregated both directions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     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(RX_sync + RX_nearby) / (TX_sync + TX_nearby)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7"/>
          <p:cNvSpPr/>
          <p:nvPr/>
        </p:nvSpPr>
        <p:spPr>
          <a:xfrm>
            <a:off x="6400800" y="32918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Log Files (per test)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Box 8"/>
          <p:cNvSpPr/>
          <p:nvPr/>
        </p:nvSpPr>
        <p:spPr>
          <a:xfrm>
            <a:off x="6400800" y="3749040"/>
            <a:ext cx="5028480" cy="12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test_summary_*.csv — summary table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iperf3_summary_*.csv / *.png — iperf3 results &amp; plot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result_&lt;component&gt;_&lt;test_name&gt;_&lt;ts&gt;.log — softmodem 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ping_result_*.txt — ping 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iperf3_server_*.txt / iperf3_client_*.txt — iperf3 logs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Rounded Rectangle 9"/>
          <p:cNvSpPr/>
          <p:nvPr/>
        </p:nvSpPr>
        <p:spPr>
          <a:xfrm>
            <a:off x="6400800" y="5486400"/>
            <a:ext cx="5028480" cy="73080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Remote logs captured via tee, then moved to log folder.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Log file list defined in softmodem_log_files in config.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1"/>
          <p:cNvSpPr/>
          <p:nvPr/>
        </p:nvSpPr>
        <p:spPr>
          <a:xfrm>
            <a:off x="0" y="0"/>
            <a:ext cx="12191040" cy="72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" name="TextBox 2"/>
          <p:cNvSpPr/>
          <p:nvPr/>
        </p:nvSpPr>
        <p:spPr>
          <a:xfrm>
            <a:off x="548640" y="228600"/>
            <a:ext cx="91432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Extending the Framework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3"/>
          <p:cNvSpPr/>
          <p:nvPr/>
        </p:nvSpPr>
        <p:spPr>
          <a:xfrm>
            <a:off x="548640" y="10058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1. Define Test Function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ounded Rectangle 4"/>
          <p:cNvSpPr/>
          <p:nvPr/>
        </p:nvSpPr>
        <p:spPr>
          <a:xfrm>
            <a:off x="548640" y="1463040"/>
            <a:ext cx="5028480" cy="43884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my_custom_test()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echo "==== Testing ${FUNCNAME[0]} ===="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[[ $# -ge 1 ]] &amp;&amp; duration=$1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[[ $# -ge 2 ]] &amp;&amp; test_type=$2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[[ $# -ge 3 ]] &amp;&amp; mcs=$3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[[ $# -ge 4 ]] &amp;&amp; iteration=$4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local start_time=$(date +%s) sl_mode=2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run_syncref_cmd $test_type $mcs $sl_mode "local"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run_nearby_cmd  $test_type $mcs $sl_mode "local"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sleep 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evaluate_ping_test "local" "oaitun_ue1" \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"10.0.0.100" $sl_mode "${FUNCNAME[0]}"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local end_time=$(date +%s)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print_runtime $start_time $end_time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print_test_summary "${FUNCNAME[0]}" \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"$iteration" "1" "$mcs" ...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5"/>
          <p:cNvSpPr/>
          <p:nvPr/>
        </p:nvSpPr>
        <p:spPr>
          <a:xfrm>
            <a:off x="6400800" y="10058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2. Add rfsim/usrp Wrappers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Rounded Rectangle 6"/>
          <p:cNvSpPr/>
          <p:nvPr/>
        </p:nvSpPr>
        <p:spPr>
          <a:xfrm>
            <a:off x="6400800" y="1463040"/>
            <a:ext cx="5028480" cy="182808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rfsim_my_custom_test_on_local_host()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local test_type="rfsim"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my_custom_test $duration $test_type $mcs $iteration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usrp_B210_my_custom_test_on_local_host()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local test_type="usrp"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my_custom_test $duration $test_type $mcs $iteration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Box 7"/>
          <p:cNvSpPr/>
          <p:nvPr/>
        </p:nvSpPr>
        <p:spPr>
          <a:xfrm>
            <a:off x="6400800" y="356616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3. Enable in Config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Rounded Rectangle 8"/>
          <p:cNvSpPr/>
          <p:nvPr/>
        </p:nvSpPr>
        <p:spPr>
          <a:xfrm>
            <a:off x="6400800" y="4023360"/>
            <a:ext cx="5028480" cy="73080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enabled_tests=(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rfsim_my_custom_test_on_local_host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Box 9"/>
          <p:cNvSpPr/>
          <p:nvPr/>
        </p:nvSpPr>
        <p:spPr>
          <a:xfrm>
            <a:off x="6400800" y="493776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4. Custom Profiles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Rounded Rectangle 10"/>
          <p:cNvSpPr/>
          <p:nvPr/>
        </p:nvSpPr>
        <p:spPr>
          <a:xfrm>
            <a:off x="6400800" y="5394960"/>
            <a:ext cx="5028480" cy="127944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custom_tests=( slmode2_basic_tests 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elif [[ $test_profile == "custom" ]]; then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enabled_tests=("${custom_tests[@]}")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num_repeat=2; mcs_array=(1 5 9)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duration=60; max_ldpc_iterations=30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atten_array=(20 30 40)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0" y="0"/>
            <a:ext cx="12191040" cy="72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" name="TextBox 2"/>
          <p:cNvSpPr/>
          <p:nvPr/>
        </p:nvSpPr>
        <p:spPr>
          <a:xfrm>
            <a:off x="548640" y="228600"/>
            <a:ext cx="91432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Troubleshooting &amp; References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Box 3"/>
          <p:cNvSpPr/>
          <p:nvPr/>
        </p:nvSpPr>
        <p:spPr>
          <a:xfrm>
            <a:off x="548640" y="1005840"/>
            <a:ext cx="5485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Common Issues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34" name="Table 4"/>
          <p:cNvGraphicFramePr/>
          <p:nvPr/>
        </p:nvGraphicFramePr>
        <p:xfrm>
          <a:off x="548640" y="1371600"/>
          <a:ext cx="5943240" cy="3291840"/>
        </p:xfrm>
        <a:graphic>
          <a:graphicData uri="http://schemas.openxmlformats.org/drawingml/2006/table">
            <a:tbl>
              <a:tblPr/>
              <a:tblGrid>
                <a:gridCol w="2286000"/>
                <a:gridCol w="365760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Problem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Solution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"No such device" for oaitun_ue1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UE not initialized — increase sleep after launch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Ping fails (&lt;60%)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Check ip addr show oaitun_ue1; increase duration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PSSCH stats show 0/0 or N/A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Check sidelink logs; verify remote logs copied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SSH command fails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ssh remote_ue hostname — verify passwordless auth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 UE config not updated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Check REMOTE_USER var; verify paths on remote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SRAP relay test fails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docker ps | grep oai-amf — verify 5G Core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 attenuator error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curl http://169.254.10.10/ — check reachability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Config changes don't persist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Script restores defaults before each test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135" name="TextBox 5"/>
          <p:cNvSpPr/>
          <p:nvPr/>
        </p:nvSpPr>
        <p:spPr>
          <a:xfrm>
            <a:off x="7132320" y="100584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Prerequisites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6"/>
          <p:cNvSpPr/>
          <p:nvPr/>
        </p:nvSpPr>
        <p:spPr>
          <a:xfrm>
            <a:off x="7132320" y="1463040"/>
            <a:ext cx="4388400" cy="13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nr-uesoftmodem, nr-softmodem, nr-cuup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gnome-terminal for parallel process launch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Docker-based OAI 5G Core (SRAP/Uu tests)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USRP B210 + RF attenuator (hardware tests)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Passwordless SSH to all remote hosts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7"/>
          <p:cNvSpPr/>
          <p:nvPr/>
        </p:nvSpPr>
        <p:spPr>
          <a:xfrm>
            <a:off x="7132320" y="3474720"/>
            <a:ext cx="457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References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Box 8"/>
          <p:cNvSpPr/>
          <p:nvPr/>
        </p:nvSpPr>
        <p:spPr>
          <a:xfrm>
            <a:off x="7132320" y="3931920"/>
            <a:ext cx="4388400" cy="105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Sidelink docs: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~/openairinterface5g/doc/episys/README_SL.md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Config files: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~/openairinterface5g/targets/.../NR-SIDELINK/CONF/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3GPP specs: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TS 38.331, TS 38.321, TS 38.211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200" spc="-1" strike="noStrike">
                <a:solidFill>
                  <a:srgbClr val="1e293b"/>
                </a:solidFill>
                <a:latin typeface="Calibri"/>
              </a:rPr>
              <a:t>RF simulator: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~/openairinterface5g/radio/rfsimulator/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ounded Rectangle 9"/>
          <p:cNvSpPr/>
          <p:nvPr/>
        </p:nvSpPr>
        <p:spPr>
          <a:xfrm>
            <a:off x="7132320" y="5669280"/>
            <a:ext cx="4388400" cy="45648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License: OAI Public License V1.1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2026-06-10T15:54:29Z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