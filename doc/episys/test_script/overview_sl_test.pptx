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F4740F6-7E2A-4D3D-8A9D-D48ECD287B1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E7617B0-3E06-41DE-9C43-232D960C9CC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BB8273D-4801-4FCF-BA45-90BADE9A505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E71548A-B486-47FD-8D87-56DDF37D17B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322C13C-4F59-4D17-8087-0F4C3EDB18C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558E137-848F-4758-AAA0-B8B77BC6805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654D79A-0C2C-4741-B054-1F5A8164ADC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67987A8-7F29-42CA-B378-FCC89473F60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B6770AE-0A8F-4193-82AA-2D7D4E37B78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72E98A90-5FC5-42AF-ACEB-5E5B207BD12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4FC4A3CB-A003-4167-93AF-1DFDF61390D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7EE5E60-52F6-4E4D-9B88-C442B9FF393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56D5BCE-76D3-4701-BDFA-4D63F799F82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B76C1F6-6D1B-446A-897E-68E477D3EF1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BD95F885-4548-4F45-8991-A9A37A7087D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077FB352-9993-4DC8-B1FC-FAB523878A7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0B4EAE3C-78D7-4709-8E03-E60CFCECE39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087FC86F-6FDF-4AAB-A4FF-18D388F53F0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119D822-A08F-4931-BA14-39C0CDBC70A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C593954B-3ADD-4EBA-B1DA-6D97E0C48CE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8CCF857C-BE8F-45FA-B9DF-256FCBD57FE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C230BE2-9CFB-41D1-A082-3BED6C7F70F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1a3a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" name="TextBox 2"/>
          <p:cNvSpPr/>
          <p:nvPr/>
        </p:nvSpPr>
        <p:spPr>
          <a:xfrm>
            <a:off x="1371600" y="1371600"/>
            <a:ext cx="914292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800" spc="-1" strike="noStrike">
                <a:solidFill>
                  <a:srgbClr val="ffffff"/>
                </a:solidFill>
                <a:latin typeface="Calibri"/>
              </a:rPr>
              <a:t>OAI 5G NR Sidelink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Box 3"/>
          <p:cNvSpPr/>
          <p:nvPr/>
        </p:nvSpPr>
        <p:spPr>
          <a:xfrm>
            <a:off x="1371600" y="2286000"/>
            <a:ext cx="914292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800" spc="-1" strike="noStrike">
                <a:solidFill>
                  <a:srgbClr val="ffffff"/>
                </a:solidFill>
                <a:latin typeface="Calibri"/>
              </a:rPr>
              <a:t>Test Framework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Box 4"/>
          <p:cNvSpPr/>
          <p:nvPr/>
        </p:nvSpPr>
        <p:spPr>
          <a:xfrm>
            <a:off x="1371600" y="3383280"/>
            <a:ext cx="914292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000" spc="-1" strike="noStrike">
                <a:solidFill>
                  <a:srgbClr val="bfdbfe"/>
                </a:solidFill>
                <a:latin typeface="Calibri"/>
              </a:rPr>
              <a:t>Automated CI Test Harness for PC5 &amp; U2N Relay Validation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Rounded Rectangle 5"/>
          <p:cNvSpPr/>
          <p:nvPr/>
        </p:nvSpPr>
        <p:spPr>
          <a:xfrm>
            <a:off x="2560320" y="4389120"/>
            <a:ext cx="1644840" cy="364680"/>
          </a:xfrm>
          <a:prstGeom prst="roundRect">
            <a:avLst>
              <a:gd name="adj" fmla="val 16667"/>
            </a:avLst>
          </a:prstGeom>
          <a:solidFill>
            <a:srgbClr val="2a6496"/>
          </a:solidFill>
          <a:ln w="19050">
            <a:solidFill>
              <a:srgbClr val="60a5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PC5 Mode 1 &amp; 2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Rounded Rectangle 6"/>
          <p:cNvSpPr/>
          <p:nvPr/>
        </p:nvSpPr>
        <p:spPr>
          <a:xfrm>
            <a:off x="4389120" y="4389120"/>
            <a:ext cx="1644840" cy="364680"/>
          </a:xfrm>
          <a:prstGeom prst="roundRect">
            <a:avLst>
              <a:gd name="adj" fmla="val 16667"/>
            </a:avLst>
          </a:prstGeom>
          <a:solidFill>
            <a:srgbClr val="2a6496"/>
          </a:solidFill>
          <a:ln w="19050">
            <a:solidFill>
              <a:srgbClr val="60a5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CSI / PSFCH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Rounded Rectangle 7"/>
          <p:cNvSpPr/>
          <p:nvPr/>
        </p:nvSpPr>
        <p:spPr>
          <a:xfrm>
            <a:off x="6217920" y="4389120"/>
            <a:ext cx="1644840" cy="364680"/>
          </a:xfrm>
          <a:prstGeom prst="roundRect">
            <a:avLst>
              <a:gd name="adj" fmla="val 16667"/>
            </a:avLst>
          </a:prstGeom>
          <a:solidFill>
            <a:srgbClr val="2a6496"/>
          </a:solidFill>
          <a:ln w="19050">
            <a:solidFill>
              <a:srgbClr val="60a5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U2N Relay (SRAP)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Rounded Rectangle 8"/>
          <p:cNvSpPr/>
          <p:nvPr/>
        </p:nvSpPr>
        <p:spPr>
          <a:xfrm>
            <a:off x="8046720" y="4389120"/>
            <a:ext cx="1644840" cy="364680"/>
          </a:xfrm>
          <a:prstGeom prst="roundRect">
            <a:avLst>
              <a:gd name="adj" fmla="val 16667"/>
            </a:avLst>
          </a:prstGeom>
          <a:solidFill>
            <a:srgbClr val="2a6496"/>
          </a:solidFill>
          <a:ln w="19050">
            <a:solidFill>
              <a:srgbClr val="60a5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RF Sim &amp; USRP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9"/>
          <p:cNvSpPr/>
          <p:nvPr/>
        </p:nvSpPr>
        <p:spPr>
          <a:xfrm>
            <a:off x="1371600" y="5669280"/>
            <a:ext cx="9142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93c5fd"/>
                </a:solidFill>
                <a:latin typeface="Calibri"/>
              </a:rPr>
              <a:t>OpenAirInterface — 2026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1"/>
          <p:cNvSpPr/>
          <p:nvPr/>
        </p:nvSpPr>
        <p:spPr>
          <a:xfrm>
            <a:off x="0" y="0"/>
            <a:ext cx="12190680" cy="72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" name="TextBox 2"/>
          <p:cNvSpPr/>
          <p:nvPr/>
        </p:nvSpPr>
        <p:spPr>
          <a:xfrm>
            <a:off x="548640" y="228600"/>
            <a:ext cx="91429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Overview &amp; Key Features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Box 3"/>
          <p:cNvSpPr/>
          <p:nvPr/>
        </p:nvSpPr>
        <p:spPr>
          <a:xfrm>
            <a:off x="548640" y="1005840"/>
            <a:ext cx="457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What It Tests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TextBox 4"/>
          <p:cNvSpPr/>
          <p:nvPr/>
        </p:nvSpPr>
        <p:spPr>
          <a:xfrm>
            <a:off x="548640" y="1463040"/>
            <a:ext cx="502812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PC5 Mode 2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Direct D2D communication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PC5 Mode 1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Network-scheduled sidelink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U2N Relay (SRAP)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Remote UE connectivity via relay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CSI / PSFCH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Parametric feedback testing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Uu Interface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gNB ↔ UE connectivity testing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Box 5"/>
          <p:cNvSpPr/>
          <p:nvPr/>
        </p:nvSpPr>
        <p:spPr>
          <a:xfrm>
            <a:off x="6400800" y="1005840"/>
            <a:ext cx="457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Key Features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TextBox 6"/>
          <p:cNvSpPr/>
          <p:nvPr/>
        </p:nvSpPr>
        <p:spPr>
          <a:xfrm>
            <a:off x="6400800" y="1463040"/>
            <a:ext cx="502812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Array-based test selection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simple ordered list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Parametric sweeps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CSI × PSFCH combinations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Multi-host support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1, 2, or 3 machines via SSH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Profile-based config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pilot / regress / stress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1400" spc="-1" strike="noStrike">
                <a:solidFill>
                  <a:srgbClr val="1e293b"/>
                </a:solidFill>
                <a:latin typeface="Calibri"/>
              </a:rPr>
              <a:t>Auto result tracking </a:t>
            </a: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— ping + PSSCH statistics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Rounded Rectangle 7"/>
          <p:cNvSpPr/>
          <p:nvPr/>
        </p:nvSpPr>
        <p:spPr>
          <a:xfrm>
            <a:off x="548640" y="5029200"/>
            <a:ext cx="10971720" cy="63900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25400">
            <a:solidFill>
              <a:srgbClr val="2a7a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Two scripts:  run_sl_test.sh (test engine)  +  run_sl_test_config.sh (user configuration)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1"/>
          <p:cNvSpPr/>
          <p:nvPr/>
        </p:nvSpPr>
        <p:spPr>
          <a:xfrm>
            <a:off x="0" y="0"/>
            <a:ext cx="12190680" cy="72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" name="TextBox 2"/>
          <p:cNvSpPr/>
          <p:nvPr/>
        </p:nvSpPr>
        <p:spPr>
          <a:xfrm>
            <a:off x="548640" y="228600"/>
            <a:ext cx="91429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Architecture &amp; Execution Flow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Box 3"/>
          <p:cNvSpPr/>
          <p:nvPr/>
        </p:nvSpPr>
        <p:spPr>
          <a:xfrm>
            <a:off x="548640" y="1005840"/>
            <a:ext cx="457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Execution Flow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Rounded Rectangle 4"/>
          <p:cNvSpPr/>
          <p:nvPr/>
        </p:nvSpPr>
        <p:spPr>
          <a:xfrm>
            <a:off x="548640" y="1463040"/>
            <a:ext cx="5028120" cy="3656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1. Load config (run_sl_test_config.sh)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2. Resolve enabled_tests array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3. For each test: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a. Clean up old logs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b. Launch UEs (local / remote SSH)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c. Wait for tunnel interface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d. Execute ping test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e. Collect stats (ping + PSSCH)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f. Kill processes &amp; cleanup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g. Generate summary row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4. Display final summary table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TextBox 5"/>
          <p:cNvSpPr/>
          <p:nvPr/>
        </p:nvSpPr>
        <p:spPr>
          <a:xfrm>
            <a:off x="6400800" y="1005840"/>
            <a:ext cx="457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File Structure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Rounded Rectangle 6"/>
          <p:cNvSpPr/>
          <p:nvPr/>
        </p:nvSpPr>
        <p:spPr>
          <a:xfrm>
            <a:off x="6400800" y="1463040"/>
            <a:ext cx="5028120" cy="3656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run_sl_test.sh            # Test engine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run_sl_test_config.sh     # Configuration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~/.ssh/config             # SSH host aliases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~/openairinterface5g/     # OAI source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&lt;base_dir&gt;/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latest -&gt; test_&lt;ts&gt;/    # Symlink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test_&lt;timestamp&gt;/       # Results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test_summary_*.csv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result_syncref.log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result_nearby.log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ping_result_*.txt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Rounded Rectangle 7"/>
          <p:cNvSpPr/>
          <p:nvPr/>
        </p:nvSpPr>
        <p:spPr>
          <a:xfrm>
            <a:off x="6400800" y="5303520"/>
            <a:ext cx="5028120" cy="54756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25400">
            <a:solidFill>
              <a:srgbClr val="2a7a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base_dir priority:  -d flag &gt; base_log_dir in config &gt; script directory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1"/>
          <p:cNvSpPr/>
          <p:nvPr/>
        </p:nvSpPr>
        <p:spPr>
          <a:xfrm>
            <a:off x="0" y="0"/>
            <a:ext cx="12190680" cy="72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" name="TextBox 2"/>
          <p:cNvSpPr/>
          <p:nvPr/>
        </p:nvSpPr>
        <p:spPr>
          <a:xfrm>
            <a:off x="548640" y="228600"/>
            <a:ext cx="91429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Multi-Host Testing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Box 3"/>
          <p:cNvSpPr/>
          <p:nvPr/>
        </p:nvSpPr>
        <p:spPr>
          <a:xfrm>
            <a:off x="548640" y="1005840"/>
            <a:ext cx="457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Test Topologies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Rounded Rectangle 4"/>
          <p:cNvSpPr/>
          <p:nvPr/>
        </p:nvSpPr>
        <p:spPr>
          <a:xfrm>
            <a:off x="548640" y="1463040"/>
            <a:ext cx="5028120" cy="41137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Single-Host (Mode 2):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SyncRef UE &lt;--rfsim--&gt; Nearby UE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(both on localhost)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Two-Host (Mode 2):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Local:  SyncRef UE (rfsim server)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Remote: Nearby UE  (rfsim client)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Three-Host (Mode 1 SRAP):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gNB host:       gNB + 5G Core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relay_ue host:  Relay UE (Uu + PC5)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  </a:t>
            </a:r>
            <a:r>
              <a:rPr b="0" lang="en-US" sz="1200" spc="-1" strike="noStrike">
                <a:solidFill>
                  <a:srgbClr val="e2e8f0"/>
                </a:solidFill>
                <a:latin typeface="Consolas"/>
              </a:rPr>
              <a:t>remote_ue host: Remote UE (PC5)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TextBox 5"/>
          <p:cNvSpPr/>
          <p:nvPr/>
        </p:nvSpPr>
        <p:spPr>
          <a:xfrm>
            <a:off x="6400800" y="1005840"/>
            <a:ext cx="457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Required SSH Host Aliases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78" name="Table 6"/>
          <p:cNvGraphicFramePr/>
          <p:nvPr/>
        </p:nvGraphicFramePr>
        <p:xfrm>
          <a:off x="6400800" y="1554480"/>
          <a:ext cx="5028840" cy="2194560"/>
        </p:xfrm>
        <a:graphic>
          <a:graphicData uri="http://schemas.openxmlformats.org/drawingml/2006/table">
            <a:tbl>
              <a:tblPr/>
              <a:tblGrid>
                <a:gridCol w="1371600"/>
                <a:gridCol w="3657600"/>
              </a:tblGrid>
              <a:tr h="365760"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Alias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remote_ue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Nearby UE in 2/3-hosts tests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nr_ue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nrUE in Uu interface tests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relay_ue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Relay UE in 3-hosts SRAP tests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gNB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gNB in 3-hosts rfsim SRAP tests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Local host IP &amp; user name, mandatory in all tests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9" name="Rounded Rectangle 7"/>
          <p:cNvSpPr/>
          <p:nvPr/>
        </p:nvSpPr>
        <p:spPr>
          <a:xfrm>
            <a:off x="6400800" y="4297680"/>
            <a:ext cx="5028120" cy="1096200"/>
          </a:xfrm>
          <a:prstGeom prst="roundRect">
            <a:avLst>
              <a:gd name="adj" fmla="val 16667"/>
            </a:avLst>
          </a:prstGeom>
          <a:solidFill>
            <a:srgbClr val="fffbeb"/>
          </a:solidFill>
          <a:ln w="25400">
            <a:solidFill>
              <a:srgbClr val="f59e0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Aliases are hardcoded in run_sl_test.sh.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Passwordless SSH required: ssh-copy-id &lt;alias&gt;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1"/>
          <p:cNvSpPr/>
          <p:nvPr/>
        </p:nvSpPr>
        <p:spPr>
          <a:xfrm>
            <a:off x="0" y="0"/>
            <a:ext cx="12190680" cy="72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" name="TextBox 2"/>
          <p:cNvSpPr/>
          <p:nvPr/>
        </p:nvSpPr>
        <p:spPr>
          <a:xfrm>
            <a:off x="548640" y="228600"/>
            <a:ext cx="91429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Test Selection &amp; Configuration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Box 3"/>
          <p:cNvSpPr/>
          <p:nvPr/>
        </p:nvSpPr>
        <p:spPr>
          <a:xfrm>
            <a:off x="548640" y="1005840"/>
            <a:ext cx="457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Test Profiles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83" name="Table 4"/>
          <p:cNvGraphicFramePr/>
          <p:nvPr/>
        </p:nvGraphicFramePr>
        <p:xfrm>
          <a:off x="548640" y="1463040"/>
          <a:ext cx="5028840" cy="146304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1097280"/>
                <a:gridCol w="914400"/>
                <a:gridCol w="1188720"/>
              </a:tblGrid>
              <a:tr h="365760"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Profile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Repeats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MCS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TX/RX Gain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pilot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30s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20 / 110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regress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1, 9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30s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20 / 110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stress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9, 16, 28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300s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20 / 110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4" name="TextBox 5"/>
          <p:cNvSpPr/>
          <p:nvPr/>
        </p:nvSpPr>
        <p:spPr>
          <a:xfrm>
            <a:off x="548640" y="3200400"/>
            <a:ext cx="457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Selection Syntax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6"/>
          <p:cNvSpPr/>
          <p:nvPr/>
        </p:nvSpPr>
        <p:spPr>
          <a:xfrm>
            <a:off x="548640" y="3657600"/>
            <a:ext cx="5028120" cy="138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slmode2_basic_tests — entire group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slmode2_basic_tests[0:2] — range (indices 0-2)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slmode2_basic_tests[0,2] — pick specific indices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slmode2_basic_tests[0] — single test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test_name:csi:psfch — parametric combo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Box 7"/>
          <p:cNvSpPr/>
          <p:nvPr/>
        </p:nvSpPr>
        <p:spPr>
          <a:xfrm>
            <a:off x="6400800" y="1005840"/>
            <a:ext cx="457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Additional Config Settings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Rounded Rectangle 8"/>
          <p:cNvSpPr/>
          <p:nvPr/>
        </p:nvSpPr>
        <p:spPr>
          <a:xfrm>
            <a:off x="6400800" y="1463040"/>
            <a:ext cx="5028120" cy="18277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# Log output directory (default: script dir)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base_log_dir="~/openairinterface5g"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# USRP serial numbers (SL Mode 1 relay only)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RELAY_UE_USRP_SN_FOR_UU=340EA03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RELAY_UE_USRP_SN_FOR_SL=3271246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TextBox 9"/>
          <p:cNvSpPr/>
          <p:nvPr/>
        </p:nvSpPr>
        <p:spPr>
          <a:xfrm>
            <a:off x="6400800" y="3566160"/>
            <a:ext cx="457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Running Tests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Rounded Rectangle 10"/>
          <p:cNvSpPr/>
          <p:nvPr/>
        </p:nvSpPr>
        <p:spPr>
          <a:xfrm>
            <a:off x="6400800" y="4023360"/>
            <a:ext cx="5028120" cy="137052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# use base_log_dir from config (or script dir)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./run_sl_test.sh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# override: logs saved under ~/openairinterface5g/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100" spc="-1" strike="noStrike">
                <a:solidFill>
                  <a:srgbClr val="e2e8f0"/>
                </a:solidFill>
                <a:latin typeface="Consolas"/>
              </a:rPr>
              <a:t>./run_sl_test.sh -d ~/openairinterface5g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1"/>
          <p:cNvSpPr/>
          <p:nvPr/>
        </p:nvSpPr>
        <p:spPr>
          <a:xfrm>
            <a:off x="6400800" y="5577840"/>
            <a:ext cx="5028120" cy="54756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25400">
            <a:solidFill>
              <a:srgbClr val="2a7a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Log dir priority:  -d flag &gt; base_log_dir in config &gt; script directory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 1"/>
          <p:cNvSpPr/>
          <p:nvPr/>
        </p:nvSpPr>
        <p:spPr>
          <a:xfrm>
            <a:off x="0" y="0"/>
            <a:ext cx="12190680" cy="72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" name="TextBox 2"/>
          <p:cNvSpPr/>
          <p:nvPr/>
        </p:nvSpPr>
        <p:spPr>
          <a:xfrm>
            <a:off x="548640" y="228600"/>
            <a:ext cx="91429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Available Test Cases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93" name="Table 3"/>
          <p:cNvGraphicFramePr/>
          <p:nvPr/>
        </p:nvGraphicFramePr>
        <p:xfrm>
          <a:off x="548640" y="1188720"/>
          <a:ext cx="10972440" cy="3657600"/>
        </p:xfrm>
        <a:graphic>
          <a:graphicData uri="http://schemas.openxmlformats.org/drawingml/2006/table">
            <a:tbl>
              <a:tblPr/>
              <a:tblGrid>
                <a:gridCol w="4114800"/>
                <a:gridCol w="1371600"/>
                <a:gridCol w="914400"/>
                <a:gridCol w="4572000"/>
              </a:tblGrid>
              <a:tr h="365760"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Test Case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Mode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Hosts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a3a5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rfsim_pc5_ping_test_on_local_host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 Mode 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Basic PC5 ping: SyncRef &lt;-&gt; Nearby UE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rfsim_pc5_ping_test_on_two_hosts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 Mode 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PC5 ping across two machines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rfsim_pc5_csi_psfch_*_on_local_host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 Mode 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CSI/PSFCH parametric sweep (8 combos)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rfsim_pc5_csi_psfch_*_on_two_hosts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 Mode 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CSI/PSFCH parametric on two machines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rfsim_slmode1_srap_*_on_local_host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 Mode 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U2N relay via SRAP on localhost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rfsim_slmode1_srap_*_on_three_hosts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SL Mode 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3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U2N relay: gNB + Relay + Remote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rfsim_uu_ping_test_on_local_host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Uu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gNB &lt;-&gt; UE ping on localhost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rfsim_uu_ping_test_on_two_hosts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Uu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gNB &lt;-&gt; UE ping across two machines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8fc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usrp_B210_*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All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2-3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1e293b"/>
                          </a:solidFill>
                          <a:latin typeface="Calibri"/>
                        </a:rPr>
                        <a:t>USRP hardware variants of above tests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4" name="Rounded Rectangle 4"/>
          <p:cNvSpPr/>
          <p:nvPr/>
        </p:nvSpPr>
        <p:spPr>
          <a:xfrm>
            <a:off x="548640" y="5303520"/>
            <a:ext cx="10971720" cy="730440"/>
          </a:xfrm>
          <a:prstGeom prst="roundRect">
            <a:avLst>
              <a:gd name="adj" fmla="val 16667"/>
            </a:avLst>
          </a:prstGeom>
          <a:solidFill>
            <a:srgbClr val="d1fae5"/>
          </a:solidFill>
          <a:ln w="25400">
            <a:solidFill>
              <a:srgbClr val="10b98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1e293b"/>
                </a:solidFill>
                <a:latin typeface="Calibri"/>
              </a:rPr>
              <a:t>Pass criteria: &gt;= 60% ICMP ping success rate   |   PSSCH stats: TX/RX counters extracted from UE logs for each direction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 1"/>
          <p:cNvSpPr/>
          <p:nvPr/>
        </p:nvSpPr>
        <p:spPr>
          <a:xfrm>
            <a:off x="0" y="0"/>
            <a:ext cx="12190680" cy="72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" name="TextBox 2"/>
          <p:cNvSpPr/>
          <p:nvPr/>
        </p:nvSpPr>
        <p:spPr>
          <a:xfrm>
            <a:off x="548640" y="228600"/>
            <a:ext cx="914292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a5c"/>
                </a:solidFill>
                <a:latin typeface="Calibri"/>
              </a:rPr>
              <a:t>Test Results &amp; PSSCH Statistics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Box 3"/>
          <p:cNvSpPr/>
          <p:nvPr/>
        </p:nvSpPr>
        <p:spPr>
          <a:xfrm>
            <a:off x="548640" y="1005840"/>
            <a:ext cx="9142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Summary Table Output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Rounded Rectangle 4"/>
          <p:cNvSpPr/>
          <p:nvPr/>
        </p:nvSpPr>
        <p:spPr>
          <a:xfrm>
            <a:off x="548640" y="1463040"/>
            <a:ext cx="10971720" cy="1461960"/>
          </a:xfrm>
          <a:prstGeom prst="roundRect">
            <a:avLst>
              <a:gd name="adj" fmla="val 16667"/>
            </a:avLst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52280" tIns="127080" bIns="127080" anchor="ctr">
            <a:no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Test Name                                      | Itrn | Hosts | MCS | Runtime | Ping  | PSSCH Rate1     | PSSCH Rate2     | Total | Result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==========================================================================================================================================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rfsim_pc5_ping_test_on_local_host              |    1 |     1 |   1 |    35s  |  100% | 1234/1200 (97%) | 1150/1234 (93%) |   95% |   PASS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rfsim_pc5_csi_psfch_*_csi0_psfch1              |    1 |     2 |   1 |    38s  |   93% | 980/1000 (98%)  | 920/980 (93%)   |   96% |   PASS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0" lang="en-US" sz="1000" spc="-1" strike="noStrike">
                <a:solidFill>
                  <a:srgbClr val="e2e8f0"/>
                </a:solidFill>
                <a:latin typeface="Consolas"/>
              </a:rPr>
              <a:t>rfsim_slmode1_srap_ping_test_on_local_host     |    1 |     1 |   1 |    42s  |   80% | N/A             | N/A             |   N/A |   PASS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Box 5"/>
          <p:cNvSpPr/>
          <p:nvPr/>
        </p:nvSpPr>
        <p:spPr>
          <a:xfrm>
            <a:off x="548640" y="3291840"/>
            <a:ext cx="457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PSSCH Rate Calculation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6"/>
          <p:cNvSpPr/>
          <p:nvPr/>
        </p:nvSpPr>
        <p:spPr>
          <a:xfrm>
            <a:off x="548640" y="3749040"/>
            <a:ext cx="5028120" cy="12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Rate1: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SyncRef TX → Nearby RX  (RX_nearby / TX_syncref)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Rate2: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Nearby TX → SyncRef RX  (RX_syncref / TX_nearby)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1" lang="en-US" sz="1300" spc="-1" strike="noStrike">
                <a:solidFill>
                  <a:srgbClr val="1e293b"/>
                </a:solidFill>
                <a:latin typeface="Calibri"/>
              </a:rPr>
              <a:t>Total: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Aggregated both directions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       </a:t>
            </a: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(RX_sync + RX_nearby) / (TX_sync + TX_nearby)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Box 7"/>
          <p:cNvSpPr/>
          <p:nvPr/>
        </p:nvSpPr>
        <p:spPr>
          <a:xfrm>
            <a:off x="6400800" y="3291840"/>
            <a:ext cx="4570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2a6496"/>
                </a:solidFill>
                <a:latin typeface="Calibri"/>
              </a:rPr>
              <a:t>Log Files (per test)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Box 8"/>
          <p:cNvSpPr/>
          <p:nvPr/>
        </p:nvSpPr>
        <p:spPr>
          <a:xfrm>
            <a:off x="6400800" y="3749040"/>
            <a:ext cx="5028120" cy="144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test_summary_*.csv — summary table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result_syncref.log — SyncRef UE output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result_nearby.log — Nearby UE output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result_nrUE_syncref.log — Relay UE (Mode 1)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result_gNB.log — gNB output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1e293b"/>
                </a:solidFill>
                <a:latin typeface="Calibri"/>
              </a:rPr>
              <a:t>ping_result_*.txt — ping output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Rounded Rectangle 9"/>
          <p:cNvSpPr/>
          <p:nvPr/>
        </p:nvSpPr>
        <p:spPr>
          <a:xfrm>
            <a:off x="6400800" y="5486400"/>
            <a:ext cx="5028120" cy="547560"/>
          </a:xfrm>
          <a:prstGeom prst="roundRect">
            <a:avLst>
              <a:gd name="adj" fmla="val 16667"/>
            </a:avLst>
          </a:prstGeom>
          <a:solidFill>
            <a:srgbClr val="f0f4f8"/>
          </a:solidFill>
          <a:ln w="25400">
            <a:solidFill>
              <a:srgbClr val="2a7ae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7840" rIns="90000" tIns="10152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1e293b"/>
                </a:solidFill>
                <a:latin typeface="Calibri"/>
              </a:rPr>
              <a:t>Results in &lt;base_dir&gt;/latest/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2026-04-28T16:26:42Z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